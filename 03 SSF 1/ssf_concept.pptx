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68" r:id="rId2"/>
    <p:sldId id="295" r:id="rId3"/>
    <p:sldId id="260" r:id="rId4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AAC08F2-D23E-AA44-97F8-D6A666C932FD}">
          <p14:sldIdLst>
            <p14:sldId id="268"/>
            <p14:sldId id="295"/>
            <p14:sldId id="260"/>
          </p14:sldIdLst>
        </p14:section>
        <p14:section name="backup" id="{A564E39C-1B0A-674A-A1CA-01ADE11D8566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780"/>
    <p:restoredTop sz="77664"/>
  </p:normalViewPr>
  <p:slideViewPr>
    <p:cSldViewPr snapToGrid="0">
      <p:cViewPr varScale="1">
        <p:scale>
          <a:sx n="104" d="100"/>
          <a:sy n="104" d="100"/>
        </p:scale>
        <p:origin x="528" y="200"/>
      </p:cViewPr>
      <p:guideLst/>
    </p:cSldViewPr>
  </p:slideViewPr>
  <p:outlineViewPr>
    <p:cViewPr>
      <p:scale>
        <a:sx n="33" d="100"/>
        <a:sy n="33" d="100"/>
      </p:scale>
      <p:origin x="0" y="-65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AD4D80-97B6-1745-951F-0116108AF945}" type="datetimeFigureOut">
              <a:rPr lang="en-US" smtClean="0"/>
              <a:t>4/19/26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ADFFCA-ED65-C441-A788-0A6406B61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888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Traditionally RSF, but they assume global availability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ADFFCA-ED65-C441-A788-0A6406B6127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7845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ADFFCA-ED65-C441-A788-0A6406B6127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46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CDEEE-35E6-AA2B-EECF-4E1F338817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9C4D40-A39C-A8F3-D202-86D4B7F391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04CA5-3FED-7D5E-6C6E-7232389E2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25239-69FC-904A-910C-74FC837F57EF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24BB8-CEEB-DDB0-FFDC-AA899A5CF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143129-0E9B-8B51-3970-302417945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4D582-8A33-DD45-984A-904AA8F91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373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43368-FD1C-17F9-5DF8-174E5351D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3A9A3-9B78-D266-5FCE-8501FE1BF4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BA2D67-D1E0-69C5-8ADC-964B7E396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25239-69FC-904A-910C-74FC837F57EF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C082A-82DA-8878-80F2-0FEF83A3F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4A70C-50CD-3A20-683B-3CF9BA20C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4D582-8A33-DD45-984A-904AA8F91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366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B9F9D-B2F5-16FA-1047-68904D02D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69594D-78A0-43E5-7F45-1A81BF041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8D696-9DB3-A890-B841-B6E619245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25239-69FC-904A-910C-74FC837F57EF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1EC53-5BEC-16CE-F49E-A0A0D18A8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37A13-00A0-9676-4039-A3268C11F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4D582-8A33-DD45-984A-904AA8F91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203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4FE43-D25C-0BE8-6814-43FD0BD9B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C89B9-F760-F168-2A40-CC0A8490BD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D588D5-5E4E-D88C-F0B6-20CB96FE26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17238C-6CFD-56FD-4CDB-9539B4A89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25239-69FC-904A-910C-74FC837F57EF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FD2D14-F1A9-3C73-D96D-B6909A5EE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895FAC-22B3-AD84-4268-8FC8CCD0F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4D582-8A33-DD45-984A-904AA8F91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795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26C46-ECEC-6FC1-0063-46BFE2437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32EF95-B7FA-57C5-1904-08D418980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58A26B-F161-CC5C-84C5-1C3460E52D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A69F99-9F57-E05D-176C-9EA6241A07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6FB03C-7DF7-229C-DB0E-20BE1F3887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8905B8-A716-73AE-A659-279CBA703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25239-69FC-904A-910C-74FC837F57EF}" type="datetimeFigureOut">
              <a:rPr lang="en-US" smtClean="0"/>
              <a:t>4/19/26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F26E51-436F-D0BC-3179-A1AEE286E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143ACE-4DC5-E81F-96C0-75896AD3B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4D582-8A33-DD45-984A-904AA8F91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63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8662D-F790-B22E-AD80-C78FF539F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16B8B8-A44B-98C7-5516-57646A36B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25239-69FC-904A-910C-74FC837F57EF}" type="datetimeFigureOut">
              <a:rPr lang="en-US" smtClean="0"/>
              <a:t>4/19/26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599957-DC82-5544-6867-50F1705FB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B201A1-BE6E-3737-BC33-B17F12BDF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4D582-8A33-DD45-984A-904AA8F91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549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E03515-F53A-FDD5-45AF-ED200BFF0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25239-69FC-904A-910C-74FC837F57EF}" type="datetimeFigureOut">
              <a:rPr lang="en-US" smtClean="0"/>
              <a:t>4/19/26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34E551-2859-EE33-93F2-102269B41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82F32E-0A4C-190B-A1D9-E4970CF41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4D582-8A33-DD45-984A-904AA8F91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590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2FE12-FDED-C7C7-F58E-667EC0DB5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0507B-22BE-8CAF-6882-97E1DFD1F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8AAE2E-B654-EF8E-0CB3-84A3472E40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4BCDA2-6139-E288-D6A8-5EA1F5F13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25239-69FC-904A-910C-74FC837F57EF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438391-C2AC-2537-9288-67E82D4FC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42B75F-768A-901E-B442-26545A581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4D582-8A33-DD45-984A-904AA8F91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113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1C5FF-2A1B-0A29-30E4-8A93AF586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9D44CD-D851-E891-A9E0-9D2F73ADB6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EAA777-6F50-357B-F3C2-611633B72D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2C9736-F00E-3BC8-F35C-2635639F0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25239-69FC-904A-910C-74FC837F57EF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A2BC9-37B5-888E-D62C-56DA90899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1C5344-D7C8-6F84-AADE-9475ADB6E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4D582-8A33-DD45-984A-904AA8F91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218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E02B7-251B-C0B6-42DB-23FA54B4C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CBC711-C18F-A3A3-1ADD-3925F1319D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457DAB-7C83-6EA5-E9F0-C9E5E4B69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25239-69FC-904A-910C-74FC837F57EF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89E17-8184-D58A-89D6-F1ECF16FA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68032F-1E86-A099-71E5-0FAC4057E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4D582-8A33-DD45-984A-904AA8F91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237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01C974-93D4-8B51-2F1B-6A7FC975CD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8FEA19-050F-4934-04C9-5463168DE6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CA9C2C-8C36-1824-A1BC-236C56335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25239-69FC-904A-910C-74FC837F57EF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FC2E8-0246-0D6A-85FE-71CB469F3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B5221-43F2-A1C6-368A-97C18A0D4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4D582-8A33-DD45-984A-904AA8F91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93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33ABE6-BF7C-5EA6-6385-AED558868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E9CF77-6EC1-D927-AD22-6264BCF75F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948ABA-8AB4-6AA0-30A0-ABA199A622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A25239-69FC-904A-910C-74FC837F57EF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D797E-2655-9D0D-2305-D6AB709F1D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4E1273-C2DA-263F-5A39-15F166C96A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B4D582-8A33-DD45-984A-904AA8F91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602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6B205-A098-1527-42A2-E4681EAB6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it all about?</a:t>
            </a:r>
          </a:p>
        </p:txBody>
      </p:sp>
      <p:pic>
        <p:nvPicPr>
          <p:cNvPr id="5" name="Content Placeholder 4" descr="Fox with solid fill">
            <a:extLst>
              <a:ext uri="{FF2B5EF4-FFF2-40B4-BE49-F238E27FC236}">
                <a16:creationId xmlns:a16="http://schemas.microsoft.com/office/drawing/2014/main" id="{BAD547B4-948C-9123-13C9-E731895B87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19282" y="2433640"/>
            <a:ext cx="2133600" cy="2133600"/>
          </a:xfrm>
        </p:spPr>
      </p:pic>
      <p:pic>
        <p:nvPicPr>
          <p:cNvPr id="7" name="Graphic 6" descr="Forest scene with solid fill">
            <a:extLst>
              <a:ext uri="{FF2B5EF4-FFF2-40B4-BE49-F238E27FC236}">
                <a16:creationId xmlns:a16="http://schemas.microsoft.com/office/drawing/2014/main" id="{F86D0098-2640-E888-CF23-A2BA7B09C5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10557" y="1260477"/>
            <a:ext cx="914400" cy="914400"/>
          </a:xfrm>
          <a:prstGeom prst="rect">
            <a:avLst/>
          </a:prstGeom>
        </p:spPr>
      </p:pic>
      <p:pic>
        <p:nvPicPr>
          <p:cNvPr id="9" name="Graphic 8" descr="Crops with solid fill">
            <a:extLst>
              <a:ext uri="{FF2B5EF4-FFF2-40B4-BE49-F238E27FC236}">
                <a16:creationId xmlns:a16="http://schemas.microsoft.com/office/drawing/2014/main" id="{585A7F7E-35DD-2058-14B6-B08A702C0F9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896600" y="3043240"/>
            <a:ext cx="914400" cy="914400"/>
          </a:xfrm>
          <a:prstGeom prst="rect">
            <a:avLst/>
          </a:prstGeom>
        </p:spPr>
      </p:pic>
      <p:pic>
        <p:nvPicPr>
          <p:cNvPr id="11" name="Graphic 10" descr="Farm scene with solid fill">
            <a:extLst>
              <a:ext uri="{FF2B5EF4-FFF2-40B4-BE49-F238E27FC236}">
                <a16:creationId xmlns:a16="http://schemas.microsoft.com/office/drawing/2014/main" id="{56ECEA60-27F4-7902-8490-C614D8A353F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96282" y="5108577"/>
            <a:ext cx="914400" cy="914400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416CD47-8C92-2C3A-D4BE-C71020FBCC50}"/>
              </a:ext>
            </a:extLst>
          </p:cNvPr>
          <p:cNvCxnSpPr>
            <a:endCxn id="7" idx="1"/>
          </p:cNvCxnSpPr>
          <p:nvPr/>
        </p:nvCxnSpPr>
        <p:spPr>
          <a:xfrm flipV="1">
            <a:off x="4052882" y="1717677"/>
            <a:ext cx="4257675" cy="1782763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306782C-4C87-FFAF-8091-CCBA281F2F07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4052882" y="3500440"/>
            <a:ext cx="6843718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53615E4-619F-314F-10E8-15055F8B5484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4052882" y="3500440"/>
            <a:ext cx="4343400" cy="2065337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Graphic 20" descr="Question Mark with solid fill">
            <a:extLst>
              <a:ext uri="{FF2B5EF4-FFF2-40B4-BE49-F238E27FC236}">
                <a16:creationId xmlns:a16="http://schemas.microsoft.com/office/drawing/2014/main" id="{3E33D1AB-EAD3-FEA6-4FF4-CB9A9BFD13C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476868" y="2185989"/>
            <a:ext cx="2847969" cy="284796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8CDD802-4C04-AD29-A183-881B4E4B5440}"/>
              </a:ext>
            </a:extLst>
          </p:cNvPr>
          <p:cNvSpPr txBox="1"/>
          <p:nvPr/>
        </p:nvSpPr>
        <p:spPr>
          <a:xfrm>
            <a:off x="1919282" y="4212191"/>
            <a:ext cx="1739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Animal at time </a:t>
            </a:r>
            <a:r>
              <a:rPr lang="en-US" i="1" dirty="0"/>
              <a:t>t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4B2CE66-E08B-AE98-9105-2FF369B001FC}"/>
              </a:ext>
            </a:extLst>
          </p:cNvPr>
          <p:cNvSpPr txBox="1"/>
          <p:nvPr/>
        </p:nvSpPr>
        <p:spPr>
          <a:xfrm>
            <a:off x="7983917" y="6100758"/>
            <a:ext cx="20789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Animal at time </a:t>
            </a:r>
            <a:r>
              <a:rPr lang="en-US" i="1" dirty="0"/>
              <a:t>t + 1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97EB379-61A8-A17A-19E1-BE30177139AD}"/>
              </a:ext>
            </a:extLst>
          </p:cNvPr>
          <p:cNvSpPr txBox="1"/>
          <p:nvPr/>
        </p:nvSpPr>
        <p:spPr>
          <a:xfrm>
            <a:off x="495295" y="4702973"/>
            <a:ext cx="568642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Where will the animal be next?</a:t>
            </a:r>
          </a:p>
          <a:p>
            <a:r>
              <a:rPr lang="en-US" sz="3200" dirty="0"/>
              <a:t>Does it have a preference?</a:t>
            </a:r>
          </a:p>
          <a:p>
            <a:r>
              <a:rPr lang="en-US" sz="3200" dirty="0"/>
              <a:t>Can it reach it in space?</a:t>
            </a:r>
          </a:p>
        </p:txBody>
      </p:sp>
    </p:spTree>
    <p:extLst>
      <p:ext uri="{BB962C8B-B14F-4D97-AF65-F5344CB8AC3E}">
        <p14:creationId xmlns:p14="http://schemas.microsoft.com/office/powerpoint/2010/main" val="449722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713D7-22BE-AC76-2F3A-B486553E4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RSF or SSF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00C4D-D1E0-D000-B8CB-FDA4C64DF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4163"/>
            <a:ext cx="10515600" cy="4351338"/>
          </a:xfrm>
        </p:spPr>
        <p:txBody>
          <a:bodyPr/>
          <a:lstStyle/>
          <a:p>
            <a:r>
              <a:rPr lang="en-US" dirty="0"/>
              <a:t>Resource Selection Function (RSF; also sometimes referred to as Habitat Selection Function; HSF): </a:t>
            </a:r>
            <a:r>
              <a:rPr lang="en-US" b="1" dirty="0"/>
              <a:t>Global availability</a:t>
            </a:r>
            <a:r>
              <a:rPr lang="en-US" dirty="0"/>
              <a:t>, i.e., the animal assumed to reach each available point at each time step. </a:t>
            </a:r>
          </a:p>
          <a:p>
            <a:r>
              <a:rPr lang="en-US" dirty="0"/>
              <a:t>Step Selection Functions (SSF): </a:t>
            </a:r>
            <a:r>
              <a:rPr lang="en-US" b="1" dirty="0"/>
              <a:t>Conditional availability</a:t>
            </a:r>
            <a:r>
              <a:rPr lang="en-US" dirty="0"/>
              <a:t>, available steps are conditioned on the current position of the animal. </a:t>
            </a:r>
          </a:p>
          <a:p>
            <a:r>
              <a:rPr lang="en-US" dirty="0"/>
              <a:t>Integrated Step Selection Function (</a:t>
            </a:r>
            <a:r>
              <a:rPr lang="en-US" dirty="0" err="1"/>
              <a:t>iSSF</a:t>
            </a:r>
            <a:r>
              <a:rPr lang="en-US" dirty="0"/>
              <a:t>): </a:t>
            </a:r>
            <a:r>
              <a:rPr lang="en-US" b="1" dirty="0"/>
              <a:t>Conditional availability </a:t>
            </a:r>
            <a:r>
              <a:rPr lang="en-US" dirty="0"/>
              <a:t>and also estimating a movement kernel, i.e., where to expect the animal in the next time step, if there were no selection.</a:t>
            </a:r>
          </a:p>
        </p:txBody>
      </p:sp>
    </p:spTree>
    <p:extLst>
      <p:ext uri="{BB962C8B-B14F-4D97-AF65-F5344CB8AC3E}">
        <p14:creationId xmlns:p14="http://schemas.microsoft.com/office/powerpoint/2010/main" val="71599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" name="ta labs">
            <a:extLst>
              <a:ext uri="{FF2B5EF4-FFF2-40B4-BE49-F238E27FC236}">
                <a16:creationId xmlns:a16="http://schemas.microsoft.com/office/drawing/2014/main" id="{6DFEE0B9-F991-F20B-F0A0-E67C446455B1}"/>
              </a:ext>
            </a:extLst>
          </p:cNvPr>
          <p:cNvGrpSpPr/>
          <p:nvPr/>
        </p:nvGrpSpPr>
        <p:grpSpPr>
          <a:xfrm>
            <a:off x="2109863" y="1938985"/>
            <a:ext cx="4888481" cy="2586151"/>
            <a:chOff x="2109863" y="1938985"/>
            <a:chExt cx="4888481" cy="2586151"/>
          </a:xfrm>
        </p:grpSpPr>
        <p:sp>
          <p:nvSpPr>
            <p:cNvPr id="54" name="Arc 53">
              <a:extLst>
                <a:ext uri="{FF2B5EF4-FFF2-40B4-BE49-F238E27FC236}">
                  <a16:creationId xmlns:a16="http://schemas.microsoft.com/office/drawing/2014/main" id="{18AAE5F2-93D1-B038-FD56-69AD28CF541C}"/>
                </a:ext>
              </a:extLst>
            </p:cNvPr>
            <p:cNvSpPr/>
            <p:nvPr/>
          </p:nvSpPr>
          <p:spPr>
            <a:xfrm>
              <a:off x="3112811" y="3265207"/>
              <a:ext cx="1069013" cy="927211"/>
            </a:xfrm>
            <a:prstGeom prst="arc">
              <a:avLst>
                <a:gd name="adj1" fmla="val 17066916"/>
                <a:gd name="adj2" fmla="val 20104632"/>
              </a:avLst>
            </a:prstGeom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F9DF5D46-F031-01C9-E51E-6C61FE19FB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11788" y="1938985"/>
              <a:ext cx="152400" cy="951790"/>
            </a:xfrm>
            <a:prstGeom prst="straightConnector1">
              <a:avLst/>
            </a:prstGeom>
            <a:ln w="41275"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C657276-29C4-0F17-CFE5-8E58605508FF}"/>
                </a:ext>
              </a:extLst>
            </p:cNvPr>
            <p:cNvSpPr txBox="1"/>
            <p:nvPr/>
          </p:nvSpPr>
          <p:spPr>
            <a:xfrm rot="21442429">
              <a:off x="3868871" y="2245472"/>
              <a:ext cx="37003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FF0000"/>
                  </a:solidFill>
                </a:rPr>
                <a:t>ta</a:t>
              </a:r>
              <a:r>
                <a:rPr lang="en-US" sz="1200" baseline="-25000" dirty="0">
                  <a:solidFill>
                    <a:srgbClr val="FF0000"/>
                  </a:solidFill>
                </a:rPr>
                <a:t>3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96256BC9-7925-7B38-E067-128427BB72B6}"/>
                </a:ext>
              </a:extLst>
            </p:cNvPr>
            <p:cNvSpPr txBox="1"/>
            <p:nvPr/>
          </p:nvSpPr>
          <p:spPr>
            <a:xfrm rot="21442429">
              <a:off x="6329205" y="2789029"/>
              <a:ext cx="37003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FF0000"/>
                  </a:solidFill>
                </a:rPr>
                <a:t>ta</a:t>
              </a:r>
              <a:r>
                <a:rPr lang="en-US" sz="1200" baseline="-25000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57" name="Arc 56">
              <a:extLst>
                <a:ext uri="{FF2B5EF4-FFF2-40B4-BE49-F238E27FC236}">
                  <a16:creationId xmlns:a16="http://schemas.microsoft.com/office/drawing/2014/main" id="{0B2434F7-79DC-E639-DFB6-462CF2B43B40}"/>
                </a:ext>
              </a:extLst>
            </p:cNvPr>
            <p:cNvSpPr>
              <a:spLocks/>
            </p:cNvSpPr>
            <p:nvPr/>
          </p:nvSpPr>
          <p:spPr>
            <a:xfrm rot="1444958">
              <a:off x="5882354" y="2597398"/>
              <a:ext cx="889354" cy="908626"/>
            </a:xfrm>
            <a:prstGeom prst="arc">
              <a:avLst>
                <a:gd name="adj1" fmla="val 17509436"/>
                <a:gd name="adj2" fmla="val 20999012"/>
              </a:avLst>
            </a:prstGeom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55" name="Arc 54">
              <a:extLst>
                <a:ext uri="{FF2B5EF4-FFF2-40B4-BE49-F238E27FC236}">
                  <a16:creationId xmlns:a16="http://schemas.microsoft.com/office/drawing/2014/main" id="{8EB54FAE-A164-20E3-79C2-83C8A179C69F}"/>
                </a:ext>
              </a:extLst>
            </p:cNvPr>
            <p:cNvSpPr>
              <a:spLocks/>
            </p:cNvSpPr>
            <p:nvPr/>
          </p:nvSpPr>
          <p:spPr>
            <a:xfrm>
              <a:off x="3305772" y="2121429"/>
              <a:ext cx="889354" cy="908626"/>
            </a:xfrm>
            <a:prstGeom prst="arc">
              <a:avLst>
                <a:gd name="adj1" fmla="val 17657600"/>
                <a:gd name="adj2" fmla="val 234665"/>
              </a:avLst>
            </a:prstGeom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94D05670-F510-6E44-9DD0-D5A5827CAC09}"/>
                </a:ext>
              </a:extLst>
            </p:cNvPr>
            <p:cNvCxnSpPr>
              <a:cxnSpLocks/>
            </p:cNvCxnSpPr>
            <p:nvPr/>
          </p:nvCxnSpPr>
          <p:spPr>
            <a:xfrm>
              <a:off x="4990360" y="2767650"/>
              <a:ext cx="2007984" cy="440654"/>
            </a:xfrm>
            <a:prstGeom prst="straightConnector1">
              <a:avLst/>
            </a:prstGeom>
            <a:ln w="41275"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95BFE78C-CECC-C772-8FFC-35CDB6C782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09863" y="3331956"/>
              <a:ext cx="2339898" cy="1193180"/>
            </a:xfrm>
            <a:prstGeom prst="straightConnector1">
              <a:avLst/>
            </a:prstGeom>
            <a:ln w="41275"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73BB89CF-EBA8-E7A3-ACB7-D5A25461EA62}"/>
                </a:ext>
              </a:extLst>
            </p:cNvPr>
            <p:cNvSpPr txBox="1">
              <a:spLocks/>
            </p:cNvSpPr>
            <p:nvPr/>
          </p:nvSpPr>
          <p:spPr>
            <a:xfrm rot="21442429">
              <a:off x="3707459" y="3303104"/>
              <a:ext cx="37003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FF0000"/>
                  </a:solidFill>
                </a:rPr>
                <a:t>ta</a:t>
              </a:r>
              <a:r>
                <a:rPr lang="en-US" sz="1200" baseline="-25000" dirty="0">
                  <a:solidFill>
                    <a:srgbClr val="FF0000"/>
                  </a:solidFill>
                </a:rPr>
                <a:t>2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2B1975B-C64B-FB46-5BFB-EDA153E00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SSF the idea</a:t>
            </a:r>
          </a:p>
        </p:txBody>
      </p:sp>
      <p:grpSp>
        <p:nvGrpSpPr>
          <p:cNvPr id="182" name="Point labels">
            <a:extLst>
              <a:ext uri="{FF2B5EF4-FFF2-40B4-BE49-F238E27FC236}">
                <a16:creationId xmlns:a16="http://schemas.microsoft.com/office/drawing/2014/main" id="{80B51CC4-6E3D-F851-4A93-C4BD8D0D2784}"/>
              </a:ext>
            </a:extLst>
          </p:cNvPr>
          <p:cNvGrpSpPr/>
          <p:nvPr/>
        </p:nvGrpSpPr>
        <p:grpSpPr>
          <a:xfrm>
            <a:off x="282740" y="1896198"/>
            <a:ext cx="9167047" cy="3223174"/>
            <a:chOff x="282740" y="1896198"/>
            <a:chExt cx="9167047" cy="322317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2682E93-3C4B-981A-F63B-55E90AB0F37B}"/>
                </a:ext>
              </a:extLst>
            </p:cNvPr>
            <p:cNvSpPr txBox="1"/>
            <p:nvPr/>
          </p:nvSpPr>
          <p:spPr>
            <a:xfrm>
              <a:off x="5675856" y="3068157"/>
              <a:ext cx="787856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P</a:t>
              </a:r>
              <a:r>
                <a:rPr lang="en-US" sz="1200" baseline="-25000" dirty="0"/>
                <a:t>4</a:t>
              </a:r>
              <a:r>
                <a:rPr lang="en-US" sz="1200" dirty="0"/>
                <a:t> (x</a:t>
              </a:r>
              <a:r>
                <a:rPr lang="en-US" sz="1200" baseline="-25000" dirty="0"/>
                <a:t>4</a:t>
              </a:r>
              <a:r>
                <a:rPr lang="en-US" sz="1200" dirty="0"/>
                <a:t>, y</a:t>
              </a:r>
              <a:r>
                <a:rPr lang="en-US" sz="1200" baseline="-25000" dirty="0"/>
                <a:t>4</a:t>
              </a:r>
              <a:r>
                <a:rPr lang="en-US" sz="1200" dirty="0"/>
                <a:t>)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F619D16-1E90-4D1F-D97B-5E6BDFF57575}"/>
                </a:ext>
              </a:extLst>
            </p:cNvPr>
            <p:cNvSpPr txBox="1"/>
            <p:nvPr/>
          </p:nvSpPr>
          <p:spPr>
            <a:xfrm>
              <a:off x="282740" y="4842373"/>
              <a:ext cx="7936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P</a:t>
              </a:r>
              <a:r>
                <a:rPr lang="en-US" sz="1200" baseline="-25000" dirty="0"/>
                <a:t>1</a:t>
              </a:r>
              <a:r>
                <a:rPr lang="en-US" sz="1200" dirty="0"/>
                <a:t> (x</a:t>
              </a:r>
              <a:r>
                <a:rPr lang="en-US" sz="1200" baseline="-25000" dirty="0"/>
                <a:t>1</a:t>
              </a:r>
              <a:r>
                <a:rPr lang="en-US" sz="1200" dirty="0"/>
                <a:t>, y</a:t>
              </a:r>
              <a:r>
                <a:rPr lang="en-US" sz="1200" baseline="-25000" dirty="0"/>
                <a:t>1</a:t>
              </a:r>
              <a:r>
                <a:rPr lang="en-US" sz="1200" dirty="0"/>
                <a:t>)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E50EF36-870F-D7B9-752B-ABACC476FC7E}"/>
                </a:ext>
              </a:extLst>
            </p:cNvPr>
            <p:cNvSpPr txBox="1"/>
            <p:nvPr/>
          </p:nvSpPr>
          <p:spPr>
            <a:xfrm>
              <a:off x="2844877" y="3535552"/>
              <a:ext cx="82385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P</a:t>
              </a:r>
              <a:r>
                <a:rPr lang="en-US" sz="1200" baseline="-25000" dirty="0"/>
                <a:t>2</a:t>
              </a:r>
              <a:r>
                <a:rPr lang="en-US" sz="1200" dirty="0"/>
                <a:t> (x</a:t>
              </a:r>
              <a:r>
                <a:rPr lang="en-US" sz="1200" baseline="-25000" dirty="0"/>
                <a:t>2</a:t>
              </a:r>
              <a:r>
                <a:rPr lang="en-US" sz="1200" dirty="0"/>
                <a:t>, y</a:t>
              </a:r>
              <a:r>
                <a:rPr lang="en-US" sz="1200" baseline="-25000" dirty="0"/>
                <a:t>2</a:t>
              </a:r>
              <a:r>
                <a:rPr lang="en-US" sz="1200" dirty="0"/>
                <a:t>)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86F2147-BD7D-2B4C-1691-BBB206FC8DA1}"/>
                </a:ext>
              </a:extLst>
            </p:cNvPr>
            <p:cNvSpPr txBox="1"/>
            <p:nvPr/>
          </p:nvSpPr>
          <p:spPr>
            <a:xfrm>
              <a:off x="3006609" y="2364669"/>
              <a:ext cx="7676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P</a:t>
              </a:r>
              <a:r>
                <a:rPr lang="en-US" sz="1200" baseline="-25000" dirty="0"/>
                <a:t>3</a:t>
              </a:r>
              <a:r>
                <a:rPr lang="en-US" sz="1200" dirty="0"/>
                <a:t> (x</a:t>
              </a:r>
              <a:r>
                <a:rPr lang="en-US" sz="1200" baseline="-25000" dirty="0"/>
                <a:t>3</a:t>
              </a:r>
              <a:r>
                <a:rPr lang="en-US" sz="1200" dirty="0"/>
                <a:t>, y</a:t>
              </a:r>
              <a:r>
                <a:rPr lang="en-US" sz="1200" baseline="-25000" dirty="0"/>
                <a:t>3</a:t>
              </a:r>
              <a:r>
                <a:rPr lang="en-US" sz="1200" dirty="0"/>
                <a:t>)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DAE804B-3155-8A12-DC88-DF1F5998C115}"/>
                </a:ext>
              </a:extLst>
            </p:cNvPr>
            <p:cNvSpPr txBox="1"/>
            <p:nvPr/>
          </p:nvSpPr>
          <p:spPr>
            <a:xfrm>
              <a:off x="8293340" y="1896198"/>
              <a:ext cx="11564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P</a:t>
              </a:r>
              <a:r>
                <a:rPr lang="en-US" sz="1200" baseline="-25000" dirty="0"/>
                <a:t>5</a:t>
              </a:r>
              <a:r>
                <a:rPr lang="en-US" sz="1200" dirty="0"/>
                <a:t> (x</a:t>
              </a:r>
              <a:r>
                <a:rPr lang="en-US" sz="1200" baseline="-25000" dirty="0"/>
                <a:t>5</a:t>
              </a:r>
              <a:r>
                <a:rPr lang="en-US" sz="1200" dirty="0"/>
                <a:t>, y</a:t>
              </a:r>
              <a:r>
                <a:rPr lang="en-US" sz="1200" baseline="-25000" dirty="0"/>
                <a:t>5</a:t>
              </a:r>
              <a:r>
                <a:rPr lang="en-US" sz="1200" dirty="0"/>
                <a:t>)</a:t>
              </a:r>
            </a:p>
          </p:txBody>
        </p:sp>
      </p:grp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1A2067B-0910-BAA3-0982-4AED198B5618}"/>
              </a:ext>
            </a:extLst>
          </p:cNvPr>
          <p:cNvCxnSpPr>
            <a:cxnSpLocks/>
          </p:cNvCxnSpPr>
          <p:nvPr/>
        </p:nvCxnSpPr>
        <p:spPr>
          <a:xfrm>
            <a:off x="164805" y="6352953"/>
            <a:ext cx="520995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78E2B996-6A36-612C-A977-5AA8C04D1A41}"/>
              </a:ext>
            </a:extLst>
          </p:cNvPr>
          <p:cNvSpPr txBox="1"/>
          <p:nvPr/>
        </p:nvSpPr>
        <p:spPr>
          <a:xfrm>
            <a:off x="832883" y="6149576"/>
            <a:ext cx="4691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Steps connecting two consecutive points</a:t>
            </a:r>
          </a:p>
        </p:txBody>
      </p:sp>
      <p:grpSp>
        <p:nvGrpSpPr>
          <p:cNvPr id="183" name="Steps">
            <a:extLst>
              <a:ext uri="{FF2B5EF4-FFF2-40B4-BE49-F238E27FC236}">
                <a16:creationId xmlns:a16="http://schemas.microsoft.com/office/drawing/2014/main" id="{4905023A-9202-F56B-22D2-1C59A5F022C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229145" y="2113755"/>
            <a:ext cx="6853627" cy="2862255"/>
            <a:chOff x="1229145" y="2113755"/>
            <a:chExt cx="6853627" cy="2862255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BE1A11CF-82F1-5C4F-E50A-2298E9A0AA52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1229145" y="3782830"/>
              <a:ext cx="2339898" cy="1193180"/>
            </a:xfrm>
            <a:prstGeom prst="straightConnector1">
              <a:avLst/>
            </a:prstGeom>
            <a:ln w="412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E9677A1B-5716-F0E4-7D85-ACBE0FB030DD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3695780" y="2664594"/>
              <a:ext cx="152400" cy="951790"/>
            </a:xfrm>
            <a:prstGeom prst="straightConnector1">
              <a:avLst/>
            </a:prstGeom>
            <a:ln w="412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C146DDA4-AD44-E4C0-634D-FDDF8A04301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978122" y="2543031"/>
              <a:ext cx="2007984" cy="440654"/>
            </a:xfrm>
            <a:prstGeom prst="straightConnector1">
              <a:avLst/>
            </a:prstGeom>
            <a:ln w="412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D98CF7B3-A001-9947-CA27-8CC9E2A2A514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24" idx="7"/>
            </p:cNvCxnSpPr>
            <p:nvPr/>
          </p:nvCxnSpPr>
          <p:spPr>
            <a:xfrm flipV="1">
              <a:off x="6197033" y="2113755"/>
              <a:ext cx="1885739" cy="790119"/>
            </a:xfrm>
            <a:prstGeom prst="straightConnector1">
              <a:avLst/>
            </a:prstGeom>
            <a:ln w="412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5" name="labs steps">
            <a:extLst>
              <a:ext uri="{FF2B5EF4-FFF2-40B4-BE49-F238E27FC236}">
                <a16:creationId xmlns:a16="http://schemas.microsoft.com/office/drawing/2014/main" id="{2F56EDA4-52A3-9C64-07BC-03044D90219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113995" y="1915864"/>
            <a:ext cx="7052635" cy="3053949"/>
            <a:chOff x="1113995" y="1915864"/>
            <a:chExt cx="7052635" cy="3053949"/>
          </a:xfrm>
        </p:grpSpPr>
        <p:sp>
          <p:nvSpPr>
            <p:cNvPr id="60" name="Right Bracket 59">
              <a:extLst>
                <a:ext uri="{FF2B5EF4-FFF2-40B4-BE49-F238E27FC236}">
                  <a16:creationId xmlns:a16="http://schemas.microsoft.com/office/drawing/2014/main" id="{FE15FA7B-1FFF-D442-EC8A-3536C4190C4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532494">
              <a:off x="3932758" y="2661768"/>
              <a:ext cx="179273" cy="1109793"/>
            </a:xfrm>
            <a:prstGeom prst="rightBracke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FA88576-8E39-DE19-5529-43D836AD2B3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67996" y="4692814"/>
              <a:ext cx="86174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S</a:t>
              </a:r>
              <a:r>
                <a:rPr lang="en-US" sz="1200" baseline="-25000" dirty="0"/>
                <a:t>1</a:t>
              </a:r>
              <a:r>
                <a:rPr lang="en-US" sz="1200" dirty="0"/>
                <a:t> (P</a:t>
              </a:r>
              <a:r>
                <a:rPr lang="en-US" sz="1200" baseline="-25000" dirty="0"/>
                <a:t>1</a:t>
              </a:r>
              <a:r>
                <a:rPr lang="en-US" sz="1200" dirty="0"/>
                <a:t>, P</a:t>
              </a:r>
              <a:r>
                <a:rPr lang="en-US" sz="1200" baseline="-25000" dirty="0"/>
                <a:t>2</a:t>
              </a:r>
              <a:r>
                <a:rPr lang="en-US" sz="1200" dirty="0"/>
                <a:t>)</a:t>
              </a:r>
            </a:p>
          </p:txBody>
        </p:sp>
        <p:sp>
          <p:nvSpPr>
            <p:cNvPr id="59" name="Right Bracket 58">
              <a:extLst>
                <a:ext uri="{FF2B5EF4-FFF2-40B4-BE49-F238E27FC236}">
                  <a16:creationId xmlns:a16="http://schemas.microsoft.com/office/drawing/2014/main" id="{F3E03041-8DD3-8004-B180-8153E4B0D08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3784366">
              <a:off x="2467408" y="3202634"/>
              <a:ext cx="100448" cy="2807274"/>
            </a:xfrm>
            <a:prstGeom prst="rightBracke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62" name="Right Bracket 61">
              <a:extLst>
                <a:ext uri="{FF2B5EF4-FFF2-40B4-BE49-F238E27FC236}">
                  <a16:creationId xmlns:a16="http://schemas.microsoft.com/office/drawing/2014/main" id="{82F3E1CB-619F-3B08-F226-FA496F975C5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848091">
              <a:off x="4955784" y="1415303"/>
              <a:ext cx="179273" cy="2240021"/>
            </a:xfrm>
            <a:prstGeom prst="rightBracke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65AF147D-A0FE-A37B-DC54-6569E1332E1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 rot="618665">
              <a:off x="5174879" y="2297866"/>
              <a:ext cx="11564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S</a:t>
              </a:r>
              <a:r>
                <a:rPr lang="en-US" sz="1200" baseline="-25000" dirty="0"/>
                <a:t>3</a:t>
              </a:r>
              <a:r>
                <a:rPr lang="en-US" sz="1200" dirty="0"/>
                <a:t> (P</a:t>
              </a:r>
              <a:r>
                <a:rPr lang="en-US" sz="1200" baseline="-25000" dirty="0"/>
                <a:t>3</a:t>
              </a:r>
              <a:r>
                <a:rPr lang="en-US" sz="1200" dirty="0"/>
                <a:t>, P</a:t>
              </a:r>
              <a:r>
                <a:rPr lang="en-US" sz="1200" baseline="-25000" dirty="0"/>
                <a:t>4</a:t>
              </a:r>
              <a:r>
                <a:rPr lang="en-US" sz="1200" dirty="0"/>
                <a:t>)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A61F82B1-58E1-FB74-B006-BF8DA0ED161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1385" y="2884414"/>
              <a:ext cx="11564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S</a:t>
              </a:r>
              <a:r>
                <a:rPr lang="en-US" sz="1200" baseline="-25000" dirty="0"/>
                <a:t>2</a:t>
              </a:r>
              <a:r>
                <a:rPr lang="en-US" sz="1200" dirty="0"/>
                <a:t> (P</a:t>
              </a:r>
              <a:r>
                <a:rPr lang="en-US" sz="1200" baseline="-25000" dirty="0"/>
                <a:t>2</a:t>
              </a:r>
              <a:r>
                <a:rPr lang="en-US" sz="1200" dirty="0"/>
                <a:t>, P</a:t>
              </a:r>
              <a:r>
                <a:rPr lang="en-US" sz="1200" baseline="-25000" dirty="0"/>
                <a:t>3</a:t>
              </a:r>
              <a:r>
                <a:rPr lang="en-US" sz="1200" dirty="0"/>
                <a:t>)</a:t>
              </a:r>
            </a:p>
          </p:txBody>
        </p:sp>
        <p:sp>
          <p:nvSpPr>
            <p:cNvPr id="65" name="Right Bracket 64">
              <a:extLst>
                <a:ext uri="{FF2B5EF4-FFF2-40B4-BE49-F238E27FC236}">
                  <a16:creationId xmlns:a16="http://schemas.microsoft.com/office/drawing/2014/main" id="{F70C7381-BB27-ECCC-65EA-1E89FC99A46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4829135">
              <a:off x="6956983" y="1220047"/>
              <a:ext cx="179273" cy="2240021"/>
            </a:xfrm>
            <a:prstGeom prst="rightBracke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0EB6CDCD-19EE-CE61-FCBC-7CD5A2EBCBF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 rot="20257211">
              <a:off x="6549898" y="1915864"/>
              <a:ext cx="11564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S</a:t>
              </a:r>
              <a:r>
                <a:rPr lang="en-US" sz="1200" baseline="-25000" dirty="0"/>
                <a:t>4</a:t>
              </a:r>
              <a:r>
                <a:rPr lang="en-US" sz="1200" dirty="0"/>
                <a:t> (P</a:t>
              </a:r>
              <a:r>
                <a:rPr lang="en-US" sz="1200" baseline="-25000" dirty="0"/>
                <a:t>4</a:t>
              </a:r>
              <a:r>
                <a:rPr lang="en-US" sz="1200" dirty="0"/>
                <a:t>, P</a:t>
              </a:r>
              <a:r>
                <a:rPr lang="en-US" sz="1200" baseline="-25000" dirty="0"/>
                <a:t>5</a:t>
              </a:r>
              <a:r>
                <a:rPr lang="en-US" sz="1200" dirty="0"/>
                <a:t>)</a:t>
              </a:r>
            </a:p>
          </p:txBody>
        </p:sp>
      </p:grpSp>
      <p:grpSp>
        <p:nvGrpSpPr>
          <p:cNvPr id="192" name="sl labs">
            <a:extLst>
              <a:ext uri="{FF2B5EF4-FFF2-40B4-BE49-F238E27FC236}">
                <a16:creationId xmlns:a16="http://schemas.microsoft.com/office/drawing/2014/main" id="{EE611618-F9BD-0534-51A3-DF205747477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275803" y="2325322"/>
            <a:ext cx="4804003" cy="2355055"/>
            <a:chOff x="2275803" y="2325322"/>
            <a:chExt cx="4804003" cy="2355055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AB21D5C6-321C-C8A3-ACC8-796B0EEA698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 rot="20017838">
              <a:off x="2275803" y="4403378"/>
              <a:ext cx="3545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FF0000"/>
                  </a:solidFill>
                </a:rPr>
                <a:t>sl</a:t>
              </a:r>
              <a:r>
                <a:rPr lang="en-US" sz="1200" baseline="-25000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50C774F6-0F48-3843-2B7B-D01B15749D2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 rot="16602180">
              <a:off x="3783871" y="2986115"/>
              <a:ext cx="3545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FF0000"/>
                  </a:solidFill>
                </a:rPr>
                <a:t>sl</a:t>
              </a:r>
              <a:r>
                <a:rPr lang="en-US" sz="1200" baseline="-25000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CF47E889-EC0E-64FE-C54C-F3CDA70C2A8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 rot="627784">
              <a:off x="4616798" y="2423991"/>
              <a:ext cx="3545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FF0000"/>
                  </a:solidFill>
                </a:rPr>
                <a:t>sl</a:t>
              </a:r>
              <a:r>
                <a:rPr lang="en-US" sz="1200" baseline="-25000" dirty="0">
                  <a:solidFill>
                    <a:srgbClr val="FF0000"/>
                  </a:solidFill>
                </a:rPr>
                <a:t>3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179E7CE5-B4AC-B9CE-E2C1-DE29019BA29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 rot="19981402">
              <a:off x="6725222" y="2325322"/>
              <a:ext cx="3545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FF0000"/>
                  </a:solidFill>
                </a:rPr>
                <a:t>sl</a:t>
              </a:r>
              <a:r>
                <a:rPr lang="en-US" sz="1200" baseline="-25000" dirty="0">
                  <a:solidFill>
                    <a:srgbClr val="FF0000"/>
                  </a:solidFill>
                </a:rPr>
                <a:t>4</a:t>
              </a:r>
            </a:p>
          </p:txBody>
        </p:sp>
      </p:grpSp>
      <p:grpSp>
        <p:nvGrpSpPr>
          <p:cNvPr id="193" name="random_steps labs">
            <a:extLst>
              <a:ext uri="{FF2B5EF4-FFF2-40B4-BE49-F238E27FC236}">
                <a16:creationId xmlns:a16="http://schemas.microsoft.com/office/drawing/2014/main" id="{6C71BD56-176E-9663-F4E7-1C99CAAABE6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05683" y="1297651"/>
            <a:ext cx="4508831" cy="2998561"/>
            <a:chOff x="3105683" y="1297651"/>
            <a:chExt cx="4508831" cy="2998561"/>
          </a:xfrm>
        </p:grpSpPr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B97994A4-B196-89E0-D9FE-82379BDFBCDF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3870190" y="1771307"/>
              <a:ext cx="73626" cy="783342"/>
            </a:xfrm>
            <a:prstGeom prst="straightConnector1">
              <a:avLst/>
            </a:prstGeom>
            <a:ln w="15875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5CD58781-D4F6-B757-A162-C89F68DC9491}"/>
                </a:ext>
              </a:extLst>
            </p:cNvPr>
            <p:cNvCxnSpPr>
              <a:cxnSpLocks noGrp="1" noRot="1" noMove="1" noResize="1" noEditPoints="1" noAdjustHandles="1" noChangeArrowheads="1" noChangeShapeType="1"/>
              <a:endCxn id="64" idx="3"/>
            </p:cNvCxnSpPr>
            <p:nvPr/>
          </p:nvCxnSpPr>
          <p:spPr>
            <a:xfrm>
              <a:off x="3873288" y="2545825"/>
              <a:ext cx="1384544" cy="477089"/>
            </a:xfrm>
            <a:prstGeom prst="straightConnector1">
              <a:avLst/>
            </a:prstGeom>
            <a:ln w="15875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73C41203-B4EF-579F-8F80-B25D4625DDCC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890579" y="2545825"/>
              <a:ext cx="411683" cy="316245"/>
            </a:xfrm>
            <a:prstGeom prst="straightConnector1">
              <a:avLst/>
            </a:prstGeom>
            <a:ln w="15875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Arrow Connector 116">
              <a:extLst>
                <a:ext uri="{FF2B5EF4-FFF2-40B4-BE49-F238E27FC236}">
                  <a16:creationId xmlns:a16="http://schemas.microsoft.com/office/drawing/2014/main" id="{1B66EF24-4385-7DDD-DC34-093E3BB9B0E4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6129610" y="2993967"/>
              <a:ext cx="8702" cy="238358"/>
            </a:xfrm>
            <a:prstGeom prst="straightConnector1">
              <a:avLst/>
            </a:prstGeom>
            <a:ln w="15875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C165A170-8E92-FDB0-6FBA-990EDBF8EDEC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H="1" flipV="1">
              <a:off x="3105683" y="2674864"/>
              <a:ext cx="536785" cy="1045265"/>
            </a:xfrm>
            <a:prstGeom prst="straightConnector1">
              <a:avLst/>
            </a:prstGeom>
            <a:ln w="15875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BDDE0999-AEC2-0077-0916-CB28F0520BE4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3640953" y="3232325"/>
              <a:ext cx="1280649" cy="494722"/>
            </a:xfrm>
            <a:prstGeom prst="straightConnector1">
              <a:avLst/>
            </a:prstGeom>
            <a:ln w="15875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807FD141-10F3-5135-F6C5-E6105D281E0C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H="1" flipV="1">
              <a:off x="3450778" y="2689648"/>
              <a:ext cx="210594" cy="1052893"/>
            </a:xfrm>
            <a:prstGeom prst="straightConnector1">
              <a:avLst/>
            </a:prstGeom>
            <a:ln w="15875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EE7F6CAB-782D-EC12-D40A-1F97EF134F1A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671890" y="3735623"/>
              <a:ext cx="958286" cy="159269"/>
            </a:xfrm>
            <a:prstGeom prst="straightConnector1">
              <a:avLst/>
            </a:prstGeom>
            <a:ln w="15875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E4917E76-5EAA-414F-7AD5-823EB3A1F104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689181" y="3735623"/>
              <a:ext cx="421830" cy="560589"/>
            </a:xfrm>
            <a:prstGeom prst="straightConnector1">
              <a:avLst/>
            </a:prstGeom>
            <a:ln w="15875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D582551D-F340-7148-0912-391F8840F69C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3673605" y="2812571"/>
              <a:ext cx="367279" cy="926882"/>
            </a:xfrm>
            <a:prstGeom prst="straightConnector1">
              <a:avLst/>
            </a:prstGeom>
            <a:ln w="15875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20DBF291-BB31-0EEA-0A84-4CE3428A47F9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3676369" y="3384553"/>
              <a:ext cx="1308069" cy="367328"/>
            </a:xfrm>
            <a:prstGeom prst="straightConnector1">
              <a:avLst/>
            </a:prstGeom>
            <a:ln w="15875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0489ACAD-155F-02AC-F984-0EB1CB0C91E4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H="1" flipV="1">
              <a:off x="3587188" y="2938323"/>
              <a:ext cx="81604" cy="806124"/>
            </a:xfrm>
            <a:prstGeom prst="straightConnector1">
              <a:avLst/>
            </a:prstGeom>
            <a:ln w="15875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2A6014D8-30D6-8332-48E5-7D5DF66F5C3F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H="1" flipV="1">
              <a:off x="3207628" y="1758671"/>
              <a:ext cx="636238" cy="771660"/>
            </a:xfrm>
            <a:prstGeom prst="straightConnector1">
              <a:avLst/>
            </a:prstGeom>
            <a:ln w="15875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9C1A43B9-1B67-7D15-789A-1C006CCB15F8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3842351" y="1989188"/>
              <a:ext cx="718554" cy="548061"/>
            </a:xfrm>
            <a:prstGeom prst="straightConnector1">
              <a:avLst/>
            </a:prstGeom>
            <a:ln w="15875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D96753B7-313B-FF8D-8965-76618492EFEC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H="1" flipV="1">
              <a:off x="3483128" y="1297651"/>
              <a:ext cx="379642" cy="1255092"/>
            </a:xfrm>
            <a:prstGeom prst="straightConnector1">
              <a:avLst/>
            </a:prstGeom>
            <a:ln w="15875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82C3A062-F0C6-EF53-77E5-10920FFA006F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3875003" y="1835191"/>
              <a:ext cx="271980" cy="714464"/>
            </a:xfrm>
            <a:prstGeom prst="straightConnector1">
              <a:avLst/>
            </a:prstGeom>
            <a:ln w="15875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9A52A995-9B5B-EA39-28A0-20244CA4622B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3877767" y="2111101"/>
              <a:ext cx="1523746" cy="450982"/>
            </a:xfrm>
            <a:prstGeom prst="straightConnector1">
              <a:avLst/>
            </a:prstGeom>
            <a:ln w="15875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035F7210-7407-565C-1B67-93528AD438C4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6106708" y="1825141"/>
              <a:ext cx="338376" cy="1125264"/>
            </a:xfrm>
            <a:prstGeom prst="straightConnector1">
              <a:avLst/>
            </a:prstGeom>
            <a:ln w="15875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5065691A-07DE-D79B-C4C3-37C12775436B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6100818" y="2954337"/>
              <a:ext cx="1513696" cy="207076"/>
            </a:xfrm>
            <a:prstGeom prst="straightConnector1">
              <a:avLst/>
            </a:prstGeom>
            <a:ln w="15875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EC28FE41-7F58-2B77-D233-973471B019A6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6104779" y="2075160"/>
              <a:ext cx="578630" cy="904501"/>
            </a:xfrm>
            <a:prstGeom prst="straightConnector1">
              <a:avLst/>
            </a:prstGeom>
            <a:ln w="15875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F8056671-546D-1C35-FC1C-2BE487070A8F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6117154" y="2981973"/>
              <a:ext cx="1178223" cy="497713"/>
            </a:xfrm>
            <a:prstGeom prst="straightConnector1">
              <a:avLst/>
            </a:prstGeom>
            <a:ln w="15875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Arrow Connector 117">
              <a:extLst>
                <a:ext uri="{FF2B5EF4-FFF2-40B4-BE49-F238E27FC236}">
                  <a16:creationId xmlns:a16="http://schemas.microsoft.com/office/drawing/2014/main" id="{037B5894-F7F6-9078-4BC3-02AC9134C48A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6115734" y="2661759"/>
              <a:ext cx="1242194" cy="324162"/>
            </a:xfrm>
            <a:prstGeom prst="straightConnector1">
              <a:avLst/>
            </a:prstGeom>
            <a:ln w="15875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2298C8BA-0ECE-2640-987E-C65D8FFF7BCF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6109103" y="2996791"/>
              <a:ext cx="1197027" cy="642730"/>
            </a:xfrm>
            <a:prstGeom prst="straightConnector1">
              <a:avLst/>
            </a:prstGeom>
            <a:ln w="15875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A1350664-B146-191C-CA59-CC36447E133B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6108802" y="2424304"/>
              <a:ext cx="598915" cy="561876"/>
            </a:xfrm>
            <a:prstGeom prst="straightConnector1">
              <a:avLst/>
            </a:prstGeom>
            <a:ln w="15875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Points">
            <a:extLst>
              <a:ext uri="{FF2B5EF4-FFF2-40B4-BE49-F238E27FC236}">
                <a16:creationId xmlns:a16="http://schemas.microsoft.com/office/drawing/2014/main" id="{35F4A85B-5276-5EA4-3532-6E9897E8EA5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28449" y="1990144"/>
            <a:ext cx="8001523" cy="4128493"/>
            <a:chOff x="328449" y="1990144"/>
            <a:chExt cx="8001523" cy="4128493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59AA138-6CE8-1092-796F-02046F2941F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52109" y="4871881"/>
              <a:ext cx="237455" cy="237455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D929611-06DF-5655-867E-E6E84998639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092517" y="1990144"/>
              <a:ext cx="237455" cy="237455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6ED381F-7E72-4932-EEA8-1AEC4F13EDF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8449" y="5881182"/>
              <a:ext cx="237455" cy="237455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3F35A62-027F-02F4-AC48-DA46B82F8F4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08074" y="5816423"/>
              <a:ext cx="18075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GPS relocations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B9BA313-37BE-D900-F317-B668F7A4B35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2040" y="3621810"/>
              <a:ext cx="237455" cy="237455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BBD8A30-C499-4643-2EF3-2F95B88CF3E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42014" y="2424304"/>
              <a:ext cx="237455" cy="237455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2EB6EBA-AD8B-AF35-5E23-D17B7524FF6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994352" y="2869100"/>
              <a:ext cx="237455" cy="237455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grpSp>
        <p:nvGrpSpPr>
          <p:cNvPr id="187" name="Fit dist">
            <a:extLst>
              <a:ext uri="{FF2B5EF4-FFF2-40B4-BE49-F238E27FC236}">
                <a16:creationId xmlns:a16="http://schemas.microsoft.com/office/drawing/2014/main" id="{108280C5-9E43-E5D6-5E4F-9ED1BF09F919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931235" y="2730883"/>
            <a:ext cx="4144160" cy="4319969"/>
            <a:chOff x="6931235" y="2730883"/>
            <a:chExt cx="4144160" cy="4319969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580CAAEF-040D-AF81-0C44-311A99AFCCF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931235" y="6219855"/>
              <a:ext cx="195893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Step length distribution: usually exponential or gamma.</a:t>
              </a:r>
            </a:p>
            <a:p>
              <a:endParaRPr lang="en-US" sz="1200" dirty="0"/>
            </a:p>
          </p:txBody>
        </p:sp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165407F5-CAD6-770B-CD71-A7A08231E55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57763" y="4691396"/>
              <a:ext cx="2101965" cy="1581354"/>
            </a:xfrm>
            <a:prstGeom prst="rect">
              <a:avLst/>
            </a:prstGeom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ECB97035-D2FF-9FD9-4952-3E5FA0FEF96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909994" y="4723874"/>
              <a:ext cx="2165401" cy="1629079"/>
            </a:xfrm>
            <a:prstGeom prst="rect">
              <a:avLst/>
            </a:prstGeom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311FCDB6-6D8A-D0E6-C240-5C11DB607C6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019038" y="6312189"/>
              <a:ext cx="200798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Turn angle distribution: usually von Mises.</a:t>
              </a:r>
            </a:p>
            <a:p>
              <a:endParaRPr lang="en-US" sz="1200" dirty="0"/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46818928-959C-FA91-38DB-CE5F5D98CFC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080226" y="4521463"/>
              <a:ext cx="38755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Movement kernel</a:t>
              </a:r>
            </a:p>
          </p:txBody>
        </p:sp>
        <p:cxnSp>
          <p:nvCxnSpPr>
            <p:cNvPr id="164" name="Elbow Connector 163">
              <a:extLst>
                <a:ext uri="{FF2B5EF4-FFF2-40B4-BE49-F238E27FC236}">
                  <a16:creationId xmlns:a16="http://schemas.microsoft.com/office/drawing/2014/main" id="{DDFF6F15-047D-3702-57F6-F233A4992A16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rot="16200000" flipH="1">
              <a:off x="7931592" y="2810778"/>
              <a:ext cx="2140997" cy="1981207"/>
            </a:xfrm>
            <a:prstGeom prst="bentConnector3">
              <a:avLst>
                <a:gd name="adj1" fmla="val 1022"/>
              </a:avLst>
            </a:prstGeom>
            <a:ln w="3492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550DB175-651A-E183-EDB8-39A1922D10F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019875" y="2857543"/>
              <a:ext cx="188573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FF0000"/>
                  </a:solidFill>
                </a:rPr>
                <a:t>Parameterize movement kernel with </a:t>
              </a:r>
            </a:p>
            <a:p>
              <a:r>
                <a:rPr lang="en-US" sz="1200" dirty="0">
                  <a:solidFill>
                    <a:srgbClr val="FF0000"/>
                  </a:solidFill>
                </a:rPr>
                <a:t>observed step lengths (</a:t>
              </a:r>
              <a:r>
                <a:rPr lang="en-US" sz="1200" dirty="0" err="1">
                  <a:solidFill>
                    <a:srgbClr val="FF0000"/>
                  </a:solidFill>
                </a:rPr>
                <a:t>sl</a:t>
              </a:r>
              <a:r>
                <a:rPr lang="en-US" sz="1200" dirty="0">
                  <a:solidFill>
                    <a:srgbClr val="FF0000"/>
                  </a:solidFill>
                </a:rPr>
                <a:t>) and turn angles (ta)</a:t>
              </a:r>
            </a:p>
          </p:txBody>
        </p:sp>
      </p:grpSp>
      <p:grpSp>
        <p:nvGrpSpPr>
          <p:cNvPr id="189" name="Random steps">
            <a:extLst>
              <a:ext uri="{FF2B5EF4-FFF2-40B4-BE49-F238E27FC236}">
                <a16:creationId xmlns:a16="http://schemas.microsoft.com/office/drawing/2014/main" id="{B1C4A36E-9602-39B7-0425-ED8954005DB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890580" y="4296212"/>
            <a:ext cx="2966854" cy="1290857"/>
            <a:chOff x="3890580" y="4296212"/>
            <a:chExt cx="2966854" cy="1290857"/>
          </a:xfrm>
        </p:grpSpPr>
        <p:cxnSp>
          <p:nvCxnSpPr>
            <p:cNvPr id="169" name="Elbow Connector 168">
              <a:extLst>
                <a:ext uri="{FF2B5EF4-FFF2-40B4-BE49-F238E27FC236}">
                  <a16:creationId xmlns:a16="http://schemas.microsoft.com/office/drawing/2014/main" id="{86DF8810-C198-2F2B-DBB0-CF570D3802DB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rot="10800000">
              <a:off x="3890580" y="4296212"/>
              <a:ext cx="2966854" cy="1290857"/>
            </a:xfrm>
            <a:prstGeom prst="bentConnector3">
              <a:avLst>
                <a:gd name="adj1" fmla="val 99765"/>
              </a:avLst>
            </a:prstGeom>
            <a:ln w="34925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AA51C4C5-4CA7-5FCB-8205-BFC18E9A038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51681" y="4715282"/>
              <a:ext cx="200798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6"/>
                  </a:solidFill>
                </a:rPr>
                <a:t>Sample step lengths and turn angles of observed steps from movement kernel.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30345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3985</TotalTime>
  <Words>264</Words>
  <Application>Microsoft Macintosh PowerPoint</Application>
  <PresentationFormat>Widescreen</PresentationFormat>
  <Paragraphs>38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What is it all about?</vt:lpstr>
      <vt:lpstr>RSF or SSF</vt:lpstr>
      <vt:lpstr>SSF the idea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Signer, Johannes</dc:creator>
  <cp:lastModifiedBy>Signer, Johannes</cp:lastModifiedBy>
  <cp:revision>11</cp:revision>
  <dcterms:created xsi:type="dcterms:W3CDTF">2025-05-19T12:10:20Z</dcterms:created>
  <dcterms:modified xsi:type="dcterms:W3CDTF">2026-04-19T14:20:55Z</dcterms:modified>
</cp:coreProperties>
</file>